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4"/>
  </p:normalViewPr>
  <p:slideViewPr>
    <p:cSldViewPr snapToGrid="0" snapToObjects="1">
      <p:cViewPr varScale="1">
        <p:scale>
          <a:sx n="106" d="100"/>
          <a:sy n="106" d="100"/>
        </p:scale>
        <p:origin x="69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111111"/>
                </a:solidFill>
              </a:rPr>
              <a:t>Genesis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6760" y="13258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F5E642"/>
                </a:solidFill>
              </a:rP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63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88888"/>
                </a:solidFill>
              </a:rPr>
              <a:t>INTELLIGENT BRAND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49039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44444"/>
                </a:solidFill>
              </a:rPr>
              <a:t>The world's first AI creative director for growing businesses.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8888"/>
                </a:solidFill>
              </a:rPr>
              <a:t>Brand creation  ·  Ongoing strategy  ·  Assets on demand  ·  Physical 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Darrell Irwin &amp; Saulo Oliveira  ·  genesisbrands.ai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20040"/>
            <a:ext cx="54864" cy="59436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</a:rPr>
              <a:t>Brand is the most important part of any start-up's journey.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44444"/>
                </a:solidFill>
              </a:rPr>
              <a:t>Yet it remains the hardest to execute — constrained by budget, time, and confidence.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743200"/>
            <a:ext cx="5394960" cy="132588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</a:rPr>
              <a:t>5.5M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930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new US businesses registered every 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743200"/>
            <a:ext cx="5394960" cy="132588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834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</a:rPr>
              <a:t>&lt;10%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4930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can afford professional branding in year 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297680"/>
            <a:ext cx="5394960" cy="132588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</a:rPr>
              <a:t>$15K–$75K+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0474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what a traditional agency charges for a brand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4297680"/>
            <a:ext cx="5394960" cy="132588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43891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</a:rPr>
              <a:t>Weeks–months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0474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how long agencies take to deliver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20040"/>
            <a:ext cx="54864" cy="59436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1111"/>
                </a:solidFill>
              </a:rPr>
              <a:t>A trained AI creative director — not a template generator.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44444"/>
                </a:solidFill>
              </a:rPr>
              <a:t>Founders answer a structured discovery questionnaire. Genesis AI — the Brain Engine —
conducts intelligent discovery, derives brand strategy, and orchestrates specialist agents
to produce a complete brand in minutes.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566160"/>
            <a:ext cx="2788920" cy="269748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3566160"/>
            <a:ext cx="54864" cy="32004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</a:rPr>
              <a:t>Brand 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Complete brand identity in minutes:
logo, copy, colour, typography,
brand book — three directions.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3566160"/>
            <a:ext cx="2788920" cy="269748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3566160"/>
            <a:ext cx="54864" cy="32004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3657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</a:rPr>
              <a:t>Ongoing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16052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Subscription access to the AI
creative director that knows
your brand inside out.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566160"/>
            <a:ext cx="2788920" cy="269748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3566160"/>
            <a:ext cx="54864" cy="32004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3657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</a:rPr>
              <a:t>Assets on Demand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16052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Generate social media posts,
carousels, graphics and more
whenever you need them.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3566160"/>
            <a:ext cx="2788920" cy="269748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81160" y="3566160"/>
            <a:ext cx="54864" cy="32004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64040" y="3657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</a:rPr>
              <a:t>Physical Products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416052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Order branded business cards,
banners, merch — printed and
delivered via our partners.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20040"/>
            <a:ext cx="54864" cy="59436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</a:rPr>
              <a:t>The Differential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111"/>
                </a:solidFill>
              </a:rPr>
              <a:t>The Brain Engine — a trained second brain, not a prompt wrapper.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212080" cy="438912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88888"/>
                </a:solidFill>
              </a:rPr>
              <a:t>What everyone else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✗  Ask a few style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9981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✗  Match to a template library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9359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✗  Generate one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8736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✗  Client iterates alone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811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✗  No brand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✗  No quality inspection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6869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✗  Transaction ends at delivery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920240"/>
            <a:ext cx="5760720" cy="4389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20574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E642"/>
                </a:solidFill>
              </a:rPr>
              <a:t>Genesis Brain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✓  Conducts structured brand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99816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✓  Reasons with 25+ yrs of strategy 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593592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✓  Produces three directions simultaneously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087368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✓  Briefs and dispatches specialist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581144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✓  Inspects output — iterates until quality met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07492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✓  Retains brand memory across every 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5568696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✓  Stays as your creative director — subscription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20040"/>
            <a:ext cx="54864" cy="59436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176272" cy="493776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43000" y="1417320"/>
            <a:ext cx="594360" cy="45720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42646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78608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Client answers an AI-guided questionnaire.
The Brain Engine conducts intelligent dialogue
to extract deep brand signals.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34056" y="1280160"/>
            <a:ext cx="2176272" cy="493776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11296" y="1417320"/>
            <a:ext cx="594360" cy="45720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11296" y="142646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1215" y="2011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5" y="2578608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The Brain Engine reasons against 25+ years
of brand knowledge and derives three
creative directions: anchored, evolved, disruptive.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02352" y="1280160"/>
            <a:ext cx="2176272" cy="493776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79592" y="1417320"/>
            <a:ext cx="594360" cy="45720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79592" y="142646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011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9512" y="2578608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Specialist agents — Copy, Visual, Logo,
Playbook, Brand Book — are briefed and
orchestrated concurrently.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0648" y="1280160"/>
            <a:ext cx="2176272" cy="493776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47888" y="1417320"/>
            <a:ext cx="594360" cy="45720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47888" y="142646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1111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2011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Quality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2578608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The Brain Engine inspects every agent's
output against quality rubrics. It iterates
until the threshold is met — not just once.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38944" y="1280160"/>
            <a:ext cx="2176272" cy="493776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616184" y="1417320"/>
            <a:ext cx="594360" cy="45720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616184" y="142646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1111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76104" y="2011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76104" y="2578608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Complete brand delivered: identity, copy,
brand book, all assets. Client enters
ongoing consultant mode.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20040"/>
            <a:ext cx="54864" cy="59436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88888"/>
                </a:solidFill>
              </a:rPr>
              <a:t>Alpha Architecture — where it began (~5 years ago)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112471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DDDDDD"/>
                </a:solidFill>
              </a:rPr>
              <a:t>[ INSERT: Alpha Architecture Diagram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8888"/>
                </a:solidFill>
              </a:rPr>
              <a:t>Decision-tree pipeline · validated core proposition · real customer testimonials · proved the market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3474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DDDDDD"/>
                </a:solidFill>
              </a:rPr>
              <a:t>[ INSERT: Genesis AI Architecture Diagram ]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C829AB5-4F37-1EAF-5F75-1DD059443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98" y="12032"/>
            <a:ext cx="10807243" cy="670971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514139" y="296278"/>
            <a:ext cx="54864" cy="59436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85633" y="211756"/>
            <a:ext cx="28984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 dirty="0">
                <a:solidFill>
                  <a:srgbClr val="111111"/>
                </a:solidFill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93921" y="991830"/>
            <a:ext cx="4244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 dirty="0">
                <a:solidFill>
                  <a:srgbClr val="888888"/>
                </a:solidFill>
              </a:rPr>
              <a:t>Genesis AI — Production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20040"/>
            <a:ext cx="54864" cy="59436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</a:rPr>
              <a:t>The Brain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88888"/>
                </a:solidFill>
              </a:rPr>
              <a:t>Two-layer knowledge architecture — it learns, it reasons, it remembers.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112471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DDDDDD"/>
                </a:solidFill>
              </a:rPr>
              <a:t>[ INSERT: Brain Engine Detail Diagram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8888"/>
                </a:solidFill>
              </a:rPr>
              <a:t>Layer 1: structured YAML reasoning modules distilled from 25+ years of brand strategy  ·  Layer 2: vector store of all past engagements — every brand made sharpens the next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20040"/>
            <a:ext cx="54864" cy="59436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</a:rPr>
              <a:t>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772400" cy="141732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" cy="141732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44752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11111"/>
                </a:solidFill>
              </a:rPr>
              <a:t>5.5M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444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</a:rPr>
              <a:t>Total Addressable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93852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New US business registrations per year
(US Census Bureau, 2023)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71800"/>
            <a:ext cx="7772400" cy="141732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971800"/>
            <a:ext cx="54864" cy="141732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044952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11111"/>
                </a:solidFill>
              </a:rPr>
              <a:t>1.5M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0449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</a:rPr>
              <a:t>Serviceable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53872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US tech, creative &amp; service startups
requiring brand identity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7772400" cy="141732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572000"/>
            <a:ext cx="54864" cy="141732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645152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11111"/>
                </a:solidFill>
              </a:rPr>
              <a:t>150K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6451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</a:rPr>
              <a:t>Obtainable 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513892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10% of serviceable market —
fastest-growing segment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1371600"/>
            <a:ext cx="3383280" cy="4846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E642"/>
                </a:solidFill>
              </a:rPr>
              <a:t>Why now?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AI now capable of genuine
brand reasoning — not just
template matching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3957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0" y="277977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The idea was ahead of the
tech five years ago.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16382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0" y="354787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The tech has caught up.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0" y="431596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Nobody has built the
full loop yet.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20040"/>
            <a:ext cx="54864" cy="59436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44444"/>
                </a:solidFill>
              </a:rPr>
              <a:t>Four revenue layers — entry, retention, expansion, and growth.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11247120" cy="1097280"/>
          </a:xfrm>
          <a:prstGeom prst="rect">
            <a:avLst/>
          </a:prstGeom>
          <a:solidFill>
            <a:srgbClr val="FFF9CC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54864" cy="109728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Brand Packages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03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</a:rPr>
              <a:t>$229 / $349 / $849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856231"/>
            <a:ext cx="5852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One-time purchase. Client gets complete brand identity:
logo, copy, colour, typography, brand book, all digital assets.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90088"/>
            <a:ext cx="11247120" cy="1097280"/>
          </a:xfrm>
          <a:prstGeom prst="rect">
            <a:avLst/>
          </a:prstGeom>
          <a:solidFill>
            <a:srgbClr val="FFF9CC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990088"/>
            <a:ext cx="54864" cy="109728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0358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</a:rPr>
              <a:t>Retention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015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Subscription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3101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</a:rPr>
              <a:t>$39 – $149 /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063240"/>
            <a:ext cx="5852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Ongoing access to the AI consultant who knows their brand.
Includes asset regeneration, social media graphics, carousels,
post templates. Higher tiers: social calendar management.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97096"/>
            <a:ext cx="11247120" cy="1097280"/>
          </a:xfrm>
          <a:prstGeom prst="rect">
            <a:avLst/>
          </a:prstGeom>
          <a:solidFill>
            <a:srgbClr val="FFF9CC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197096"/>
            <a:ext cx="54864" cy="109728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24281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</a:rPr>
              <a:t>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0857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Physical Products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51713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</a:rPr>
              <a:t>20–40% margin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270248"/>
            <a:ext cx="5852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Branded business cards, banners, roller banners, t-shirts,
mugs, and stationery — ordered in-platform, fulfilled via
print-on-demand partners. Zero inventory risk.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404104"/>
            <a:ext cx="1124712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5404104"/>
            <a:ext cx="54864" cy="10972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54498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</a:rPr>
              <a:t>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81558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AI Social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72414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88888"/>
                </a:solidFill>
              </a:rPr>
              <a:t>Premium tier — future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5477256"/>
            <a:ext cx="5852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The AI manages the brand's social media presence:
generates, schedules, and publishes content autonomously.
Brand voice and visual identity always consistent.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20040"/>
            <a:ext cx="54864" cy="59436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Brand Packages — one-time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657600" cy="277689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Essential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</a:rPr>
              <a:t>$229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Full digital brand 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Logo (SVG + PNG)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Brand book (PDF)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Colour &amp; typography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Copywriting matrix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691640"/>
            <a:ext cx="3657600" cy="277689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E642"/>
                </a:solidFill>
              </a:rPr>
              <a:t>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40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$349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346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Everything in 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5468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Hard copy brand 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7472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Priority processing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691640"/>
            <a:ext cx="3657600" cy="277689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19" y="1828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Ultimate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2240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</a:rPr>
              <a:t>$849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28346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Everything in Premium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315468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Full printed stationery pack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347472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Roller banner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37947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White-glove onboarding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60569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Subscription — monthly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62890"/>
            <a:ext cx="3657600" cy="1389888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15433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</a:rPr>
              <a:t>Starter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515433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11111"/>
                </a:solidFill>
              </a:rPr>
              <a:t>$39/mo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61153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Consultant access · 10 asset regenerations/month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5062890"/>
            <a:ext cx="3657600" cy="1389888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0" y="515433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</a:rPr>
              <a:t>Growth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15433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11111"/>
                </a:solidFill>
              </a:rPr>
              <a:t>$79/mo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61153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Unlimited consultant · unlimited assets · social media templates &amp; carousels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5062890"/>
            <a:ext cx="3657600" cy="1389888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03919" y="515433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</a:rPr>
              <a:t>Pro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59" y="515433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11111"/>
                </a:solidFill>
              </a:rPr>
              <a:t>$149/mo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19" y="561153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Everything in Growth · AI-managed social media calendar · priority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20040"/>
            <a:ext cx="54864" cy="59436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</a:rPr>
              <a:t>Competition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80467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Tailor Brands / Looka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463040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44"/>
                </a:solidFill>
              </a:rPr>
              <a:t>Logo-first tools. Template matching, no strategy, no brand memory, no consultant mode. No subscription with real AI value.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80467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Canva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377440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44"/>
                </a:solidFill>
              </a:rPr>
              <a:t>Design tool for managing existing brands. No brand creation, no strategy, no discovery. Subscription but no intelligence.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11247120" cy="80467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99designs / Fiverr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291840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44"/>
                </a:solidFill>
              </a:rPr>
              <a:t>Human freelancers. Expensive ($500–$5,000+), slow (1–4 weeks), inconsistent. No ongoing relationship.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11247120" cy="80467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Traditional Agency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206240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44"/>
                </a:solidFill>
              </a:rPr>
              <a:t>$15K–$75K+, weeks to deliver, entirely inaccessible to startups and small businesses.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9200"/>
            <a:ext cx="11247120" cy="804672"/>
          </a:xfrm>
          <a:prstGeom prst="rect">
            <a:avLst/>
          </a:prstGeom>
          <a:solidFill>
            <a:srgbClr val="FFF9CC"/>
          </a:solidFill>
          <a:ln w="25400">
            <a:solidFill>
              <a:srgbClr val="F5E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Genesis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120640"/>
            <a:ext cx="8046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444444"/>
                </a:solidFill>
              </a:rPr>
              <a:t>The only platform that combines AI brand strategy, three creative directions, a quality inspection loop, brand memory, physical products, and an ongoing AI consultant — at startup-accessible pricing.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20040"/>
            <a:ext cx="54864" cy="59436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</a:rPr>
              <a:t>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57784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" cy="411480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1111"/>
                </a:solidFill>
              </a:rPr>
              <a:t>Darrell Irwin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88888"/>
                </a:solidFill>
              </a:rPr>
              <a:t>Founder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25+ years as brand strategist and agency founder. Built and ran Cre8ion, a full-service brand agency. Every framework, rubric, and creative methodology powering the Genesis AI Brain Engine is distilled from his body of work. The intelligence in the system is his.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57784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4864" cy="411480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15087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1111"/>
                </a:solidFill>
              </a:rPr>
              <a:t>Saulo Oliveira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88888"/>
                </a:solidFill>
              </a:rPr>
              <a:t>Co-Founder &amp; 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514600"/>
            <a:ext cx="521208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444444"/>
                </a:solidFill>
              </a:rPr>
              <a:t>Enterprise software architect and AI systems engineer with 2</a:t>
            </a:r>
            <a:r>
              <a:rPr lang="en-GB" sz="1500" b="0" i="0" dirty="0">
                <a:solidFill>
                  <a:srgbClr val="444444"/>
                </a:solidFill>
              </a:rPr>
              <a:t>5</a:t>
            </a:r>
            <a:r>
              <a:rPr sz="1500" b="0" i="0" dirty="0">
                <a:solidFill>
                  <a:srgbClr val="444444"/>
                </a:solidFill>
              </a:rPr>
              <a:t>+ years experience. Designed the Genesis AI multi-agent orchestration architecture, the Brain Engine, and the two-layer knowledge base. Previously led platform-level AI and cloud-native architecture at global financial institutions.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669280"/>
            <a:ext cx="1124712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E642"/>
                </a:solidFill>
              </a:rPr>
              <a:t>$300,000+ in time and expertise invested to date.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20040"/>
            <a:ext cx="54864" cy="59436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</a:rPr>
              <a:t>Traction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89611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990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88"/>
                </a:solidFill>
              </a:rPr>
              <a:t>~5 years ago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27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11111"/>
                </a:solidFill>
              </a:rPr>
              <a:t>Alpha built &amp; validated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399032"/>
            <a:ext cx="8961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Decision-tree pipeline producing PDF brand books. Deployed, user-tested across real clients spanning professional services, real estate, and recruitment. Customer testimonials on record.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11247120" cy="896112"/>
          </a:xfrm>
          <a:prstGeom prst="rect">
            <a:avLst/>
          </a:prstGeom>
          <a:solidFill>
            <a:srgbClr val="1A1A1A"/>
          </a:solidFill>
          <a:ln w="25400">
            <a:solidFill>
              <a:srgbClr val="F5E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4048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E642"/>
                </a:solidFill>
              </a:rPr>
              <a:t>Today —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686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Brain Engine operational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404872"/>
            <a:ext cx="8961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Genesis AI Brain Engine is live. Claude Opus 4 with extended thinking, two-layer knowledge base, consultant mode active. Already providing brand insights and proving its intelligence. Demo scheduled.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37560"/>
            <a:ext cx="11247120" cy="89611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4107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88"/>
                </a:solidFill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744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11111"/>
                </a:solidFill>
              </a:rPr>
              <a:t>Agent pipeline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410712"/>
            <a:ext cx="8961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444444"/>
                </a:solidFill>
              </a:rPr>
              <a:t>Connect specialist agents (Copy, Visual, Logo, Playbook, Brand Book). Test and refine the Brain Engine's ability to brief agents, inspect output quality, and iterate to threshold.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43400"/>
            <a:ext cx="11247120" cy="89611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4165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88"/>
                </a:solidFill>
              </a:rPr>
              <a:t>Then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802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11111"/>
                </a:solidFill>
              </a:rPr>
              <a:t>User interface &amp; questionnaire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416552"/>
            <a:ext cx="8961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Build the client-facing discovery experience. AI-guided questionnaire feeding directly into the Brain Engine pipeline.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49240"/>
            <a:ext cx="11247120" cy="89611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4223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88"/>
                </a:solidFill>
              </a:rPr>
              <a:t>End of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861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11111"/>
                </a:solidFill>
              </a:rPr>
              <a:t>Beta launch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5422392"/>
            <a:ext cx="8961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Full pipeline connected, tested, and refined. Beta opens to early subscribers.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20040"/>
            <a:ext cx="54864" cy="59436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</a:rPr>
              <a:t>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Three revenue streams · $349 avg brand package · $59/mo avg subscription · 30% physical product margin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18488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E642"/>
                </a:solidFill>
              </a:rPr>
              <a:t>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184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E642"/>
                </a:solidFill>
              </a:rPr>
              <a:t>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61848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E642"/>
                </a:solidFill>
              </a:rPr>
              <a:t>Brands/mo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6184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E642"/>
                </a:solidFill>
              </a:rPr>
              <a:t>Packages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6184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E642"/>
                </a:solidFill>
              </a:rPr>
              <a:t>+ Subscriptions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618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E642"/>
                </a:solidFill>
              </a:rPr>
              <a:t>+ Physical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6184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E642"/>
                </a:solidFill>
              </a:rPr>
              <a:t>Total Revenue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685800" cy="132588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596896"/>
            <a:ext cx="685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111111"/>
                </a:solidFill>
              </a:rPr>
              <a:t>Y1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2103120"/>
            <a:ext cx="10515600" cy="420623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219456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1945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1945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$1,258,800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1945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+$382,000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1945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+$72,000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19456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7711"/>
                </a:solidFill>
              </a:rPr>
              <a:t>$1,712,800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2561760"/>
            <a:ext cx="10515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8720" y="265320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Mid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26532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150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26532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$629,400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6532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+$191,000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6532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+$36,000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6532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7711"/>
                </a:solidFill>
              </a:rPr>
              <a:t>$856,400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88720" y="2996336"/>
            <a:ext cx="10515600" cy="43891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88720" y="308777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308777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75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308777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$314,700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308777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+$95,000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08777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+$18,000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08777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7711"/>
                </a:solidFill>
              </a:rPr>
              <a:t>$427,700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493008"/>
            <a:ext cx="685800" cy="132588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4005071"/>
            <a:ext cx="685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111111"/>
                </a:solidFill>
              </a:rPr>
              <a:t>Y2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8720" y="3529583"/>
            <a:ext cx="10515600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88720" y="3621023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3621023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1,000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3621023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$4,188,000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362102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+$2,980,000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3621023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+$180,000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3621023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7711"/>
                </a:solidFill>
              </a:rPr>
              <a:t>$7,348,000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" y="3976191"/>
            <a:ext cx="10515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88720" y="4067631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Mid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0" y="4067631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500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4067631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$2,094,000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4067631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+$1,490,000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406763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+$90,000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4067631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7711"/>
                </a:solidFill>
              </a:rPr>
              <a:t>$3,674,000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88720" y="4422800"/>
            <a:ext cx="10515600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188720" y="451423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Low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86000" y="451423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250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74720" y="4514239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$1,047,000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0" y="4514239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+$745,000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4514239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+$45,000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451423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7711"/>
                </a:solidFill>
              </a:rPr>
              <a:t>$1,837,000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882896"/>
            <a:ext cx="685800" cy="132588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57200" y="5382927"/>
            <a:ext cx="685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111111"/>
                </a:solidFill>
              </a:rPr>
              <a:t>Y3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88720" y="4953150"/>
            <a:ext cx="10515600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88720" y="50445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High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86000" y="504458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5,000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74720" y="50445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$20,940,000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0" y="50445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+$8,530,000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6560" y="50445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+$500,000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0" y="50445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7711"/>
                </a:solidFill>
              </a:rPr>
              <a:t>$29,970,000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88720" y="5399757"/>
            <a:ext cx="10515600" cy="347473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188720" y="5491197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Mid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86000" y="5491197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2,500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74720" y="5491197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$10,470,000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0" y="5491197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+$4,265,000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60" y="5491197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+$250,000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12480" y="5491197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7711"/>
                </a:solidFill>
              </a:rPr>
              <a:t>$14,985,000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88720" y="5846365"/>
            <a:ext cx="10515600" cy="347473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88720" y="5937805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Low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86000" y="5937805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1,250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74720" y="5937805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$5,235,000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0" y="593780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+$2,132,000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66560" y="5937805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+$125,000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12480" y="5937805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7711"/>
                </a:solidFill>
              </a:rPr>
              <a:t>$7,492,000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* Investment requirement ~$530K · cost base grows 20% per year · subscriptions assume 25% conversion of brand buyers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20040"/>
            <a:ext cx="54864" cy="59436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444444"/>
                </a:solidFill>
              </a:rPr>
              <a:t>What Genesis AI means for American entrepreneurs.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57784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4864" cy="201168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</a:rPr>
              <a:t>Democratizing Entrepreneurship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87168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5.5M Americans start a business every year. Fewer than 10% can afford professional branding. Genesis AI removes the most-cited barrier to early-stage success — permanently.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828800"/>
            <a:ext cx="557784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55080" y="1828800"/>
            <a:ext cx="54864" cy="201168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6248" y="1920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</a:rPr>
              <a:t>Transforming the Economics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487168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What costs $15,000–$75,000 at an agency and takes weeks now takes minutes and costs hundreds. The value-to-price gap is not incremental — it is categorical.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57784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54864" cy="201168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</a:rPr>
              <a:t>AI That Gets Smarter Over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773168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Every engagement strengthens Layer 2 — the vector store of brand knowledge. The system that serves the 10,000th client is meaningfully smarter than the one that served the first.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4114800"/>
            <a:ext cx="557784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4114800"/>
            <a:ext cx="54864" cy="201168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56248" y="4206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</a:rPr>
              <a:t>A New Creative Economy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4773168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Creatives contribute knowledge and earn when it's applied. A responsible AI model that amplifies the creative industry rather than replacing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E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</a:rPr>
              <a:t>Creating the world's most intelligent
brand agency will inspire people
to design their future.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888888"/>
                </a:solidFill>
              </a:rPr>
              <a:t>The automation race has just begun.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</a:rPr>
              <a:t>Brain Engine: live  ·  Demo: scheduled  ·  Beta: end of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52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genesisbrands.ai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1671</Words>
  <Application>Microsoft Macintosh PowerPoint</Application>
  <PresentationFormat>Custom</PresentationFormat>
  <Paragraphs>252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Saulo Oliveira Santos</cp:lastModifiedBy>
  <cp:revision>2</cp:revision>
  <dcterms:created xsi:type="dcterms:W3CDTF">2013-01-27T09:14:16Z</dcterms:created>
  <dcterms:modified xsi:type="dcterms:W3CDTF">2026-06-07T16:58:56Z</dcterms:modified>
  <cp:category/>
</cp:coreProperties>
</file>